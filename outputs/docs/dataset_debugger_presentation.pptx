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6" d="100"/>
          <a:sy n="156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51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7F12EB-F95C-E9BD-E474-A29DDCF1D10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4927600"/>
            <a:ext cx="10414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Z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Internal document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Shape 1"/>
          <p:cNvSpPr/>
          <p:nvPr/>
        </p:nvSpPr>
        <p:spPr>
          <a:xfrm>
            <a:off x="7315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4" name="Shape 2"/>
          <p:cNvSpPr/>
          <p:nvPr/>
        </p:nvSpPr>
        <p:spPr>
          <a:xfrm>
            <a:off x="14630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21945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Shape 4"/>
          <p:cNvSpPr/>
          <p:nvPr/>
        </p:nvSpPr>
        <p:spPr>
          <a:xfrm>
            <a:off x="29260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7" name="Shape 5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8" name="Shape 6"/>
          <p:cNvSpPr/>
          <p:nvPr/>
        </p:nvSpPr>
        <p:spPr>
          <a:xfrm>
            <a:off x="43891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51206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Shape 8"/>
          <p:cNvSpPr/>
          <p:nvPr/>
        </p:nvSpPr>
        <p:spPr>
          <a:xfrm>
            <a:off x="585216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Shape 9"/>
          <p:cNvSpPr/>
          <p:nvPr/>
        </p:nvSpPr>
        <p:spPr>
          <a:xfrm>
            <a:off x="658368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10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Shape 11"/>
          <p:cNvSpPr/>
          <p:nvPr/>
        </p:nvSpPr>
        <p:spPr>
          <a:xfrm>
            <a:off x="804672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Shape 12"/>
          <p:cNvSpPr/>
          <p:nvPr/>
        </p:nvSpPr>
        <p:spPr>
          <a:xfrm>
            <a:off x="877824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5" name="Shape 13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Shape 14"/>
          <p:cNvSpPr/>
          <p:nvPr/>
        </p:nvSpPr>
        <p:spPr>
          <a:xfrm>
            <a:off x="0" y="7315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Shape 15"/>
          <p:cNvSpPr/>
          <p:nvPr/>
        </p:nvSpPr>
        <p:spPr>
          <a:xfrm>
            <a:off x="0" y="14630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Shape 16"/>
          <p:cNvSpPr/>
          <p:nvPr/>
        </p:nvSpPr>
        <p:spPr>
          <a:xfrm>
            <a:off x="0" y="219456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9" name="Shape 17"/>
          <p:cNvSpPr/>
          <p:nvPr/>
        </p:nvSpPr>
        <p:spPr>
          <a:xfrm>
            <a:off x="0" y="292608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Shape 1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1" name="Shape 19"/>
          <p:cNvSpPr/>
          <p:nvPr/>
        </p:nvSpPr>
        <p:spPr>
          <a:xfrm>
            <a:off x="0" y="438912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2" name="Shape 20"/>
          <p:cNvSpPr/>
          <p:nvPr/>
        </p:nvSpPr>
        <p:spPr>
          <a:xfrm>
            <a:off x="0" y="512064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3" name="Shape 2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4" name="Text 2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Debugger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457200" y="2103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Detection of Mislabeled Samples</a:t>
            </a:r>
            <a:endParaRPr lang="en-US" sz="2000" dirty="0"/>
          </a:p>
          <a:p>
            <a:pPr marL="0" indent="0" algn="l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Large-Scale Image Datasets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457200" y="3063240"/>
            <a:ext cx="32004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7" name="Text 25"/>
          <p:cNvSpPr/>
          <p:nvPr/>
        </p:nvSpPr>
        <p:spPr>
          <a:xfrm>
            <a:off x="457200" y="3246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ImageNet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560320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2" name="Text 30"/>
          <p:cNvSpPr/>
          <p:nvPr/>
        </p:nvSpPr>
        <p:spPr>
          <a:xfrm>
            <a:off x="256032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ResNet-18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4" name="Text 32"/>
          <p:cNvSpPr/>
          <p:nvPr/>
        </p:nvSpPr>
        <p:spPr>
          <a:xfrm>
            <a:off x="466344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Data-Centric AI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766560" y="4297680"/>
            <a:ext cx="1920240" cy="347472"/>
          </a:xfrm>
          <a:prstGeom prst="roundRect">
            <a:avLst>
              <a:gd name="adj" fmla="val 2105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6" name="Text 34"/>
          <p:cNvSpPr/>
          <p:nvPr/>
        </p:nvSpPr>
        <p:spPr>
          <a:xfrm>
            <a:off x="6766560" y="42976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Label Noise in Real-World Datasets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dataset quality matters more than model architecture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Motivation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datasets contain label errors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4114800" cy="192024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Crowdsourced annotations introduce 3–10% error rates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Mislabeled samples create contradictory training signals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learn to fit wrong labels — hurting performance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inspection of 100k+ samples is infeasible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4114800" cy="100584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Text 9"/>
          <p:cNvSpPr/>
          <p:nvPr/>
        </p:nvSpPr>
        <p:spPr>
          <a:xfrm>
            <a:off x="594360" y="367588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Data-Centric AI Insight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cleaner dataset with the same model almost always beats a better model trained on noisy data.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1097280"/>
            <a:ext cx="384048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14" name="Text 12"/>
          <p:cNvSpPr/>
          <p:nvPr/>
        </p:nvSpPr>
        <p:spPr>
          <a:xfrm>
            <a:off x="5029200" y="1188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 Corruption Example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0" y="1600200"/>
            <a:ext cx="3474720" cy="384048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Text 14"/>
          <p:cNvSpPr/>
          <p:nvPr/>
        </p:nvSpPr>
        <p:spPr>
          <a:xfrm>
            <a:off x="5120640" y="16184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Label: 167 (goldfish)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2103120"/>
            <a:ext cx="347472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6"/>
          <p:cNvSpPr/>
          <p:nvPr/>
        </p:nvSpPr>
        <p:spPr>
          <a:xfrm>
            <a:off x="5120640" y="21214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to: 28 (poodle)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697480"/>
            <a:ext cx="3474720" cy="16459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Same image content, completely wrong label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receives contradictory gradient signal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Loss remains persistently high throughout training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This is what our debugger detects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Experimental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ImageNet with controlled 10% label corruption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Setup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97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320040" y="1097280"/>
            <a:ext cx="2743200" cy="32918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Text 8"/>
          <p:cNvSpPr/>
          <p:nvPr/>
        </p:nvSpPr>
        <p:spPr>
          <a:xfrm>
            <a:off x="429768" y="1115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Tiny ImageNet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508760"/>
            <a:ext cx="252374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classes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train images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 pixel resolution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Perfectly balanced (500/class)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13" name="Shape 11"/>
          <p:cNvSpPr/>
          <p:nvPr/>
        </p:nvSpPr>
        <p:spPr>
          <a:xfrm>
            <a:off x="3172968" y="1097280"/>
            <a:ext cx="274320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Text 12"/>
          <p:cNvSpPr/>
          <p:nvPr/>
        </p:nvSpPr>
        <p:spPr>
          <a:xfrm>
            <a:off x="3282696" y="1115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Corruption Protocol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1508760"/>
            <a:ext cx="252374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 labels randomly flipped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corrupted samples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random target class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42 — reproducible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25896" y="1097280"/>
            <a:ext cx="2743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17" name="Shape 15"/>
          <p:cNvSpPr/>
          <p:nvPr/>
        </p:nvSpPr>
        <p:spPr>
          <a:xfrm>
            <a:off x="6025896" y="1097280"/>
            <a:ext cx="2743200" cy="32918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6"/>
          <p:cNvSpPr/>
          <p:nvPr/>
        </p:nvSpPr>
        <p:spPr>
          <a:xfrm>
            <a:off x="6135624" y="1115568"/>
            <a:ext cx="25237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35624" y="1508760"/>
            <a:ext cx="2523744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 ResNet-18 (seeds 42/43/44)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for 64×64 input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~11M parameters each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20 epochs on P100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Results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26060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2" name="Text 20"/>
          <p:cNvSpPr/>
          <p:nvPr/>
        </p:nvSpPr>
        <p:spPr>
          <a:xfrm>
            <a:off x="566928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(seed 42)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 Acc: 54.46%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91840" y="4160520"/>
            <a:ext cx="26060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5" name="Text 23"/>
          <p:cNvSpPr/>
          <p:nvPr/>
        </p:nvSpPr>
        <p:spPr>
          <a:xfrm>
            <a:off x="3401568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(seed 43)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401568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 Acc: 54.81%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4160520"/>
            <a:ext cx="26060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8" name="Text 26"/>
          <p:cNvSpPr/>
          <p:nvPr/>
        </p:nvSpPr>
        <p:spPr>
          <a:xfrm>
            <a:off x="6236208" y="41879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(seed 44)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446227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 Acc: 54.52%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Methods Overview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signals — each capturing a different aspect of label quality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Methods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502920" cy="5029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60120" y="1143000"/>
            <a:ext cx="7772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11" name="Shape 9"/>
          <p:cNvSpPr/>
          <p:nvPr/>
        </p:nvSpPr>
        <p:spPr>
          <a:xfrm>
            <a:off x="960120" y="1143000"/>
            <a:ext cx="54864" cy="8046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2" name="Shape 10"/>
          <p:cNvSpPr/>
          <p:nvPr/>
        </p:nvSpPr>
        <p:spPr>
          <a:xfrm>
            <a:off x="7909560" y="1344168"/>
            <a:ext cx="685800" cy="310896"/>
          </a:xfrm>
          <a:prstGeom prst="roundRect">
            <a:avLst>
              <a:gd name="adj" fmla="val 1764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Text 11"/>
          <p:cNvSpPr/>
          <p:nvPr/>
        </p:nvSpPr>
        <p:spPr>
          <a:xfrm>
            <a:off x="7909560" y="134416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w=40%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15568" y="12161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Loss Analysis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15568" y="153619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Mislabeled samples have persistently high loss throughout training (4.7× higher than clean)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0040" y="2121408"/>
            <a:ext cx="502920" cy="5029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Text 15"/>
          <p:cNvSpPr/>
          <p:nvPr/>
        </p:nvSpPr>
        <p:spPr>
          <a:xfrm>
            <a:off x="320040" y="2121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0120" y="2075688"/>
            <a:ext cx="7772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19" name="Shape 17"/>
          <p:cNvSpPr/>
          <p:nvPr/>
        </p:nvSpPr>
        <p:spPr>
          <a:xfrm>
            <a:off x="960120" y="2075688"/>
            <a:ext cx="54864" cy="8046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Shape 18"/>
          <p:cNvSpPr/>
          <p:nvPr/>
        </p:nvSpPr>
        <p:spPr>
          <a:xfrm>
            <a:off x="7909560" y="2276856"/>
            <a:ext cx="685800" cy="310896"/>
          </a:xfrm>
          <a:prstGeom prst="roundRect">
            <a:avLst>
              <a:gd name="adj" fmla="val 1764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1" name="Text 19"/>
          <p:cNvSpPr/>
          <p:nvPr/>
        </p:nvSpPr>
        <p:spPr>
          <a:xfrm>
            <a:off x="7909560" y="227685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w=30%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15568" y="214884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Similarity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24688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Mislabeled samples don't geometrically fit their assigned class cluster in feature space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5" name="Text 23"/>
          <p:cNvSpPr/>
          <p:nvPr/>
        </p:nvSpPr>
        <p:spPr>
          <a:xfrm>
            <a:off x="320040" y="30540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960120" y="3008376"/>
            <a:ext cx="7772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27" name="Shape 25"/>
          <p:cNvSpPr/>
          <p:nvPr/>
        </p:nvSpPr>
        <p:spPr>
          <a:xfrm>
            <a:off x="960120" y="3008376"/>
            <a:ext cx="54864" cy="8046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8" name="Shape 26"/>
          <p:cNvSpPr/>
          <p:nvPr/>
        </p:nvSpPr>
        <p:spPr>
          <a:xfrm>
            <a:off x="7909560" y="3209544"/>
            <a:ext cx="685800" cy="310896"/>
          </a:xfrm>
          <a:prstGeom prst="roundRect">
            <a:avLst>
              <a:gd name="adj" fmla="val 1764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9" name="Text 27"/>
          <p:cNvSpPr/>
          <p:nvPr/>
        </p:nvSpPr>
        <p:spPr>
          <a:xfrm>
            <a:off x="7909560" y="320954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w=20%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15568" y="308152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Disagreement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15568" y="3401568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independently trained models all predict a different class than the corrupted label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20040" y="3986784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3" name="Text 31"/>
          <p:cNvSpPr/>
          <p:nvPr/>
        </p:nvSpPr>
        <p:spPr>
          <a:xfrm>
            <a:off x="320040" y="39867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960120" y="3941064"/>
            <a:ext cx="77724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AZ"/>
          </a:p>
        </p:txBody>
      </p:sp>
      <p:sp>
        <p:nvSpPr>
          <p:cNvPr id="35" name="Shape 33"/>
          <p:cNvSpPr/>
          <p:nvPr/>
        </p:nvSpPr>
        <p:spPr>
          <a:xfrm>
            <a:off x="960120" y="3941064"/>
            <a:ext cx="54864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6" name="Shape 34"/>
          <p:cNvSpPr/>
          <p:nvPr/>
        </p:nvSpPr>
        <p:spPr>
          <a:xfrm>
            <a:off x="7909560" y="4142232"/>
            <a:ext cx="685800" cy="310896"/>
          </a:xfrm>
          <a:prstGeom prst="roundRect">
            <a:avLst>
              <a:gd name="adj" fmla="val 1764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7" name="Text 35"/>
          <p:cNvSpPr/>
          <p:nvPr/>
        </p:nvSpPr>
        <p:spPr>
          <a:xfrm>
            <a:off x="7909560" y="414223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w=10%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15568" y="40142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115568" y="433425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identifies statistically unusual samples in 512-dim embedding space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1: Training Loss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samples have 4.7× higher average training loss than clean samples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Loss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78992"/>
            <a:ext cx="3931920" cy="9601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Text 7"/>
          <p:cNvSpPr/>
          <p:nvPr/>
        </p:nvSpPr>
        <p:spPr>
          <a:xfrm>
            <a:off x="594360" y="11247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3716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mean loss: 1.51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mean loss: 7.12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Ratio: 4.7× higher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148840"/>
            <a:ext cx="3931920" cy="109728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samples: loss drops steadily as model learns correct class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samples: contradictory gradient — model cannot converge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persistently elevated loss across ALL training epochs</a:t>
            </a:r>
            <a:endParaRPr lang="en-US" sz="12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051560"/>
            <a:ext cx="4663440" cy="23317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297680" y="342900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Distribution of average training loss — clean (blue) vs corrupted (red)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5720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0.977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57200" y="3794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94360" y="4041648"/>
            <a:ext cx="91440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Shape 14"/>
          <p:cNvSpPr/>
          <p:nvPr/>
        </p:nvSpPr>
        <p:spPr>
          <a:xfrm>
            <a:off x="594360" y="4041648"/>
            <a:ext cx="893369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5"/>
          <p:cNvSpPr/>
          <p:nvPr/>
        </p:nvSpPr>
        <p:spPr>
          <a:xfrm>
            <a:off x="178308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1.000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1783080" y="3794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Prec@100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1920240" y="4041648"/>
            <a:ext cx="91440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1" name="Shape 18"/>
          <p:cNvSpPr/>
          <p:nvPr/>
        </p:nvSpPr>
        <p:spPr>
          <a:xfrm>
            <a:off x="1920240" y="4041648"/>
            <a:ext cx="914400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2" name="Text 19"/>
          <p:cNvSpPr/>
          <p:nvPr/>
        </p:nvSpPr>
        <p:spPr>
          <a:xfrm>
            <a:off x="3108960" y="342900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0.993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3108960" y="3794760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46120" y="4041648"/>
            <a:ext cx="91440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5" name="Shape 22"/>
          <p:cNvSpPr/>
          <p:nvPr/>
        </p:nvSpPr>
        <p:spPr>
          <a:xfrm>
            <a:off x="3246120" y="4041648"/>
            <a:ext cx="907999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 2 &amp; 3: Embedding + Disagreement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and ensemble-based detection signals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Methods 2 &amp; 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4160520" cy="3200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Text 8"/>
          <p:cNvSpPr/>
          <p:nvPr/>
        </p:nvSpPr>
        <p:spPr>
          <a:xfrm>
            <a:off x="4572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2 — Embedding Similarity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481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512-dim penultimate layer features.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sample, compute cosine similarity to top-50 nearest neighbors in its assigned class.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similarity = sample doesn't fit its class.</a:t>
            </a:r>
            <a:endParaRPr lang="en-US" sz="11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31720"/>
            <a:ext cx="3840480" cy="2560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92861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AUROC: 0.959  ·  Prec@100: 0.980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63440" y="1078992"/>
            <a:ext cx="416052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5" name="Shape 12"/>
          <p:cNvSpPr/>
          <p:nvPr/>
        </p:nvSpPr>
        <p:spPr>
          <a:xfrm>
            <a:off x="4663440" y="1078992"/>
            <a:ext cx="416052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Text 13"/>
          <p:cNvSpPr/>
          <p:nvPr/>
        </p:nvSpPr>
        <p:spPr>
          <a:xfrm>
            <a:off x="4800600" y="10972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 3 — Model Disagreement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00600" y="1481328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models trained with different seeds vote on each sample. If all 3 disagree with the label, it is likely mislabeled.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4 discrete scores: {0, 0.33, 0.67, 1.0}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00600" y="23317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predicts:  dog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800600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 predicts:  dog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800600" y="3246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 predicts:  dog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0060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label:  cat  ← WRONG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800600" y="3931920"/>
            <a:ext cx="3840480" cy="594360"/>
          </a:xfrm>
          <a:prstGeom prst="rect">
            <a:avLst/>
          </a:prstGeom>
          <a:solidFill>
            <a:srgbClr val="D1FAE5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4" name="Text 21"/>
          <p:cNvSpPr/>
          <p:nvPr/>
        </p:nvSpPr>
        <p:spPr>
          <a:xfrm>
            <a:off x="4937760" y="398678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Recall: 0.988 (catches almost all errors)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Precision: 0.291 (flags some clean samples too)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Space: t-SNE Visualization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samples appear between class clusters — they don't belong where they are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Embeddings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82296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0599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t-SNE: corrupted samples (red ×) appear at class boundaries; suspicion heatmap (right) concentrates high scores at boundary regions.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57200" y="4352544"/>
            <a:ext cx="8229600" cy="68580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samples (×) scatter across class clusters — positioned near their TRUE class, not their ASSIGNED class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Suspicion score heatmap correctly concentrates high scores at cluster boundaries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confirmation that embedding geometry reliably reveals label errors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Combined Suspicion Score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ensemble of all 4 signals into a single ranked list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Combined Score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097280"/>
            <a:ext cx="8229600" cy="77724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s(i) = 0.40 · s_loss(i)  +  0.30 · s_embed(i)  +  0.20 · s_disagree(i)  +  0.10 · s_anomaly(i)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Text 9"/>
          <p:cNvSpPr/>
          <p:nvPr/>
        </p:nvSpPr>
        <p:spPr>
          <a:xfrm>
            <a:off x="640080" y="20299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(40%)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258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 individual signal — AUROC 0.977, near-perfect separation between clean and corrupted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670048"/>
            <a:ext cx="54864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Text 12"/>
          <p:cNvSpPr/>
          <p:nvPr/>
        </p:nvSpPr>
        <p:spPr>
          <a:xfrm>
            <a:off x="640080" y="26883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 (30%)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2916936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 geometric signal — high precision at small K, independent from loss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28416"/>
            <a:ext cx="54864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Text 15"/>
          <p:cNvSpPr/>
          <p:nvPr/>
        </p:nvSpPr>
        <p:spPr>
          <a:xfrm>
            <a:off x="640080" y="334670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Disagree (20%)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575304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booster — catches samples other methods miss, despite lower precision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86784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Text 18"/>
          <p:cNvSpPr/>
          <p:nvPr/>
        </p:nvSpPr>
        <p:spPr>
          <a:xfrm>
            <a:off x="640080" y="40050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(10%)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23367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Catch-all for genuine outliers and statistically unusual samples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Suspicion Score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corrupted samples are clearly separated by the combined score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Score Analysis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8229600" cy="28346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95935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Left: score distributions (clean vs corrupted, threshold=0.5). Right: cumulative corrupted recovered — 15% of data → 90% recall.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187952"/>
            <a:ext cx="8229600" cy="713232"/>
          </a:xfrm>
          <a:prstGeom prst="rect">
            <a:avLst/>
          </a:prstGeom>
          <a:solidFill>
            <a:srgbClr val="D1FAE5"/>
          </a:solidFill>
          <a:ln w="1905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Text 8"/>
          <p:cNvSpPr/>
          <p:nvPr/>
        </p:nvSpPr>
        <p:spPr>
          <a:xfrm>
            <a:off x="640080" y="423367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  Key Practical Finding: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44805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just 15,000 samples (15% of dataset) recovers 9,000 of 10,000 corrupted labels (90% recall). This represents an 85% reduction in manual review effort.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outperforms all individual methods across every metric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Results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78992"/>
          <a:ext cx="8503920" cy="2084832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 Analysis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 Sim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Disagreement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0.2909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Anomaly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0.3796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Combined Score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854D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393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(Combined Score)</a:t>
            </a:r>
            <a:endParaRPr lang="en-US" sz="13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50208"/>
          <a:ext cx="8503920" cy="685800"/>
        </p:xfrm>
        <a:graphic>
          <a:graphicData uri="http://schemas.openxmlformats.org/drawingml/2006/table">
            <a:tbl>
              <a:tblPr/>
              <a:tblGrid>
                <a:gridCol w="17007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07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K=1,000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K=2,000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K=5,000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3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 &amp; Precision-Recall Curves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dominates — AUROC 0.978 across all methods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Curves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078992"/>
            <a:ext cx="3931920" cy="34400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4564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Curves — All Methods</a:t>
            </a:r>
            <a:endParaRPr lang="en-US" sz="9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078992"/>
            <a:ext cx="3931920" cy="3440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92040" y="4564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Curves — All Methods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20040" y="4553712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3" name="Shape 9"/>
          <p:cNvSpPr/>
          <p:nvPr/>
        </p:nvSpPr>
        <p:spPr>
          <a:xfrm>
            <a:off x="320040" y="4553712"/>
            <a:ext cx="1609344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Text 10"/>
          <p:cNvSpPr/>
          <p:nvPr/>
        </p:nvSpPr>
        <p:spPr>
          <a:xfrm>
            <a:off x="320040" y="4617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Combined: 0.978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020824" y="4553712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6" name="Shape 12"/>
          <p:cNvSpPr/>
          <p:nvPr/>
        </p:nvSpPr>
        <p:spPr>
          <a:xfrm>
            <a:off x="2020824" y="4553712"/>
            <a:ext cx="1609344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7" name="Text 13"/>
          <p:cNvSpPr/>
          <p:nvPr/>
        </p:nvSpPr>
        <p:spPr>
          <a:xfrm>
            <a:off x="2020824" y="4617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0.977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721608" y="4553712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9" name="Shape 15"/>
          <p:cNvSpPr/>
          <p:nvPr/>
        </p:nvSpPr>
        <p:spPr>
          <a:xfrm>
            <a:off x="3721608" y="4553712"/>
            <a:ext cx="1609344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0" name="Text 16"/>
          <p:cNvSpPr/>
          <p:nvPr/>
        </p:nvSpPr>
        <p:spPr>
          <a:xfrm>
            <a:off x="3721608" y="4617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Embed: 0.959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22392" y="4553712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2" name="Shape 18"/>
          <p:cNvSpPr/>
          <p:nvPr/>
        </p:nvSpPr>
        <p:spPr>
          <a:xfrm>
            <a:off x="5422392" y="4553712"/>
            <a:ext cx="1609344" cy="5486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3" name="Text 19"/>
          <p:cNvSpPr/>
          <p:nvPr/>
        </p:nvSpPr>
        <p:spPr>
          <a:xfrm>
            <a:off x="5422392" y="4617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Disagree: 0.903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7123176" y="4553712"/>
            <a:ext cx="1609344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5" name="Shape 21"/>
          <p:cNvSpPr/>
          <p:nvPr/>
        </p:nvSpPr>
        <p:spPr>
          <a:xfrm>
            <a:off x="7123176" y="4553712"/>
            <a:ext cx="160934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26" name="Text 22"/>
          <p:cNvSpPr/>
          <p:nvPr/>
        </p:nvSpPr>
        <p:spPr>
          <a:xfrm>
            <a:off x="7123176" y="4617720"/>
            <a:ext cx="1609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Anomaly: 0.878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Top-20 Most Suspicious Samples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 True Positives — every top-flagged sample is genuinely corrupted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Gallery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8229600" cy="34747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20 samples: green border = True Positive. Scores 0.698–0.767. Spans diverse categories across all 200 classes.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Precision@K — Practical Utility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score dominates all methods across every K value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987552"/>
            <a:ext cx="822960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457200" y="4892040"/>
            <a:ext cx="6400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8920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Precision@K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78992"/>
            <a:ext cx="8229600" cy="2926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405993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Combined score (red) maintains &gt;0.95 precision at all K values. Model Disagreement (green) flatlines ~0.40.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1" name="Text 8"/>
          <p:cNvSpPr/>
          <p:nvPr/>
        </p:nvSpPr>
        <p:spPr>
          <a:xfrm>
            <a:off x="594360" y="4270248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 (Combined ≈ Loss Analysis &gt;&gt; Embedding &gt;&gt; Anomaly &gt;&gt; Disagreement) — each method has a clear niche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804672"/>
            <a:ext cx="365760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1691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6" name="Text 4"/>
          <p:cNvSpPr/>
          <p:nvPr/>
        </p:nvSpPr>
        <p:spPr>
          <a:xfrm>
            <a:off x="50292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15568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loss is the strongest signal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15568" y="1508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samples have 4.7× higher average loss — near-perfect separation from clean samples (AUROC 0.977 alone)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1005840"/>
            <a:ext cx="4114800" cy="1691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0" name="Text 8"/>
          <p:cNvSpPr/>
          <p:nvPr/>
        </p:nvSpPr>
        <p:spPr>
          <a:xfrm>
            <a:off x="4983480" y="111556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596128" y="111556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Ensemble beats every individual method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96128" y="150876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score AUROC 0.978 and F1 0.712 — no single method achieves this balance of precision and 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26080"/>
            <a:ext cx="4114800" cy="1691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4" name="Text 12"/>
          <p:cNvSpPr/>
          <p:nvPr/>
        </p:nvSpPr>
        <p:spPr>
          <a:xfrm>
            <a:off x="50292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115568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Precision@100 = 1.000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15568" y="3429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100 flagged samples are ALL genuinely corrupted — perfect precision for high-confidence review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4114800" cy="1691640"/>
          </a:xfrm>
          <a:prstGeom prst="rect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AZ"/>
          </a:p>
        </p:txBody>
      </p:sp>
      <p:sp>
        <p:nvSpPr>
          <p:cNvPr id="18" name="Text 16"/>
          <p:cNvSpPr/>
          <p:nvPr/>
        </p:nvSpPr>
        <p:spPr>
          <a:xfrm>
            <a:off x="4983480" y="303580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596128" y="3035808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 reduction in review effort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96128" y="342900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Reviewing 15% of the dataset (15,000 samples) recovers 90% of all label errors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28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Ramiz Allahverdiyev  ·  Dataset Debugger  ·  March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1313</Words>
  <Application>Microsoft Macintosh PowerPoint</Application>
  <PresentationFormat>On-screen Show (16:9)</PresentationFormat>
  <Paragraphs>233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Debugger</dc:title>
  <dc:subject>PptxGenJS Presentation</dc:subject>
  <dc:creator>Ramiz Allahverdiyev</dc:creator>
  <cp:lastModifiedBy>Ramiz Allahverdiyev</cp:lastModifiedBy>
  <cp:revision>1</cp:revision>
  <dcterms:created xsi:type="dcterms:W3CDTF">2026-03-17T06:54:14Z</dcterms:created>
  <dcterms:modified xsi:type="dcterms:W3CDTF">2026-03-17T06:57:50Z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c8b5dd9-9b63-43b3-a029-1ef766876dac_Enabled">
    <vt:lpwstr>true</vt:lpwstr>
  </property>
  <property fmtid="{D5CDD505-2E9C-101B-9397-08002B2CF9AE}" pid="3" name="MSIP_Label_4c8b5dd9-9b63-43b3-a029-1ef766876dac_SetDate">
    <vt:lpwstr>2026-03-17T06:57:50Z</vt:lpwstr>
  </property>
  <property fmtid="{D5CDD505-2E9C-101B-9397-08002B2CF9AE}" pid="4" name="MSIP_Label_4c8b5dd9-9b63-43b3-a029-1ef766876dac_Method">
    <vt:lpwstr>Standard</vt:lpwstr>
  </property>
  <property fmtid="{D5CDD505-2E9C-101B-9397-08002B2CF9AE}" pid="5" name="MSIP_Label_4c8b5dd9-9b63-43b3-a029-1ef766876dac_Name">
    <vt:lpwstr>Label for files - internal</vt:lpwstr>
  </property>
  <property fmtid="{D5CDD505-2E9C-101B-9397-08002B2CF9AE}" pid="6" name="MSIP_Label_4c8b5dd9-9b63-43b3-a029-1ef766876dac_SiteId">
    <vt:lpwstr>caa95068-7cc1-4c41-925f-875c22a5c4c9</vt:lpwstr>
  </property>
  <property fmtid="{D5CDD505-2E9C-101B-9397-08002B2CF9AE}" pid="7" name="MSIP_Label_4c8b5dd9-9b63-43b3-a029-1ef766876dac_ActionId">
    <vt:lpwstr>0bb36e1e-e435-464f-b229-9b00ef31f80b</vt:lpwstr>
  </property>
  <property fmtid="{D5CDD505-2E9C-101B-9397-08002B2CF9AE}" pid="8" name="MSIP_Label_4c8b5dd9-9b63-43b3-a029-1ef766876dac_ContentBits">
    <vt:lpwstr>2</vt:lpwstr>
  </property>
  <property fmtid="{D5CDD505-2E9C-101B-9397-08002B2CF9AE}" pid="9" name="MSIP_Label_4c8b5dd9-9b63-43b3-a029-1ef766876dac_Tag">
    <vt:lpwstr>50, 3, 0, 1</vt:lpwstr>
  </property>
  <property fmtid="{D5CDD505-2E9C-101B-9397-08002B2CF9AE}" pid="10" name="ClassificationContentMarkingFooterLocations">
    <vt:lpwstr>Office Theme:3</vt:lpwstr>
  </property>
  <property fmtid="{D5CDD505-2E9C-101B-9397-08002B2CF9AE}" pid="11" name="ClassificationContentMarkingFooterText">
    <vt:lpwstr>Internal document</vt:lpwstr>
  </property>
</Properties>
</file>